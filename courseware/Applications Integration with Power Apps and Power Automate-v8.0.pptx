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364" r:id="rId115"/>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Delivery hours</c:v>
                </c:pt>
              </c:strCache>
            </c:strRef>
          </c:tx>
          <c:spPr>
            <a:solidFill>
              <a:srgbClr val="1F6FEB"/>
            </a:solidFill>
          </c:spPr>
          <c:cat>
            <c:strRef>
              <c:f>Sheet1!$A$2:$A$5</c:f>
              <c:strCache>
                <c:ptCount val="4"/>
                <c:pt idx="0">
                  <c:v>T1 Opportunities</c:v>
                </c:pt>
                <c:pt idx="1">
                  <c:v>T2 Power Automate</c:v>
                </c:pt>
                <c:pt idx="2">
                  <c:v>T3 Power Apps</c:v>
                </c:pt>
                <c:pt idx="3">
                  <c:v>T4 Integration</c:v>
                </c:pt>
              </c:strCache>
            </c:strRef>
          </c:cat>
          <c:val>
            <c:numRef>
              <c:f>Sheet1!$B$2:$B$5</c:f>
              <c:numCache>
                <c:formatCode>0</c:formatCode>
                <c:ptCount val="4"/>
                <c:pt idx="0">
                  <c:v>2</c:v>
                </c:pt>
                <c:pt idx="1">
                  <c:v>4</c:v>
                </c:pt>
                <c:pt idx="2">
                  <c:v>4</c:v>
                </c:pt>
                <c:pt idx="3">
                  <c:v>3.5</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Minutes per transaction</c:v>
                </c:pt>
              </c:strCache>
            </c:strRef>
          </c:tx>
          <c:spPr>
            <a:solidFill>
              <a:srgbClr val="1F6FEB"/>
            </a:solidFill>
          </c:spPr>
          <c:cat>
            <c:strRef>
              <c:f>Sheet1!$A$2:$A$4</c:f>
              <c:strCache>
                <c:ptCount val="3"/>
                <c:pt idx="0">
                  <c:v>Manual re-keying</c:v>
                </c:pt>
                <c:pt idx="1">
                  <c:v>Partly automated</c:v>
                </c:pt>
                <c:pt idx="2">
                  <c:v>Fully integrated</c:v>
                </c:pt>
              </c:strCache>
            </c:strRef>
          </c:cat>
          <c:val>
            <c:numRef>
              <c:f>Sheet1!$B$2:$B$4</c:f>
              <c:numCache>
                <c:formatCode>0</c:formatCode>
                <c:ptCount val="3"/>
                <c:pt idx="0">
                  <c:v>12</c:v>
                </c:pt>
                <c:pt idx="1">
                  <c:v>5</c:v>
                </c:pt>
                <c:pt idx="2">
                  <c:v>1</c:v>
                </c:pt>
              </c:numCache>
            </c:numRef>
          </c:val>
        </c:ser>
        <c:ser>
          <c:idx val="1"/>
          <c:order val="1"/>
          <c:tx>
            <c:strRef>
              <c:f>Sheet1!$C$1</c:f>
              <c:strCache>
                <c:ptCount val="1"/>
                <c:pt idx="0">
                  <c:v>Errors per 100 records</c:v>
                </c:pt>
              </c:strCache>
            </c:strRef>
          </c:tx>
          <c:spPr>
            <a:solidFill>
              <a:srgbClr val="10B981"/>
            </a:solidFill>
          </c:spPr>
          <c:cat>
            <c:strRef>
              <c:f>Sheet1!$A$2:$A$4</c:f>
              <c:strCache>
                <c:ptCount val="3"/>
                <c:pt idx="0">
                  <c:v>Manual re-keying</c:v>
                </c:pt>
                <c:pt idx="1">
                  <c:v>Partly automated</c:v>
                </c:pt>
                <c:pt idx="2">
                  <c:v>Fully integrated</c:v>
                </c:pt>
              </c:strCache>
            </c:strRef>
          </c:cat>
          <c:val>
            <c:numRef>
              <c:f>Sheet1!$C$2:$C$4</c:f>
              <c:numCache>
                <c:formatCode>0</c:formatCode>
                <c:ptCount val="3"/>
                <c:pt idx="0">
                  <c:v>7</c:v>
                </c:pt>
                <c:pt idx="1">
                  <c:v>3</c:v>
                </c:pt>
                <c:pt idx="2">
                  <c:v>1</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603504"/>
            <a:ext cx="1874519"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694944"/>
            <a:ext cx="1874519" cy="457200"/>
          </a:xfrm>
          <a:prstGeom prst="rect">
            <a:avLst/>
          </a:prstGeom>
          <a:noFill/>
        </p:spPr>
        <p:txBody>
          <a:bodyPr wrap="square" anchor="t">
            <a:spAutoFit/>
          </a:bodyPr>
          <a:lstStyle/>
          <a:p>
            <a:pPr algn="ctr">
              <a:spcAft>
                <a:spcPts val="400"/>
              </a:spcAft>
            </a:pPr>
            <a:r>
              <a:rPr sz="1900" b="1">
                <a:solidFill>
                  <a:srgbClr val="FFFFFF"/>
                </a:solidFill>
                <a:latin typeface="Arial"/>
              </a:rPr>
              <a:t>POWER</a:t>
            </a:r>
          </a:p>
        </p:txBody>
      </p:sp>
      <p:sp>
        <p:nvSpPr>
          <p:cNvPr id="8" name="TextBox 7"/>
          <p:cNvSpPr txBox="1"/>
          <p:nvPr/>
        </p:nvSpPr>
        <p:spPr>
          <a:xfrm>
            <a:off x="9646920" y="1133856"/>
            <a:ext cx="1874519" cy="402336"/>
          </a:xfrm>
          <a:prstGeom prst="rect">
            <a:avLst/>
          </a:prstGeom>
          <a:noFill/>
        </p:spPr>
        <p:txBody>
          <a:bodyPr wrap="square" anchor="t">
            <a:spAutoFit/>
          </a:bodyPr>
          <a:lstStyle/>
          <a:p>
            <a:pPr algn="ctr">
              <a:spcAft>
                <a:spcPts val="400"/>
              </a:spcAft>
            </a:pPr>
            <a:r>
              <a:rPr sz="1200" b="1">
                <a:solidFill>
                  <a:srgbClr val="FFFFFF"/>
                </a:solidFill>
                <a:latin typeface="Arial"/>
              </a:rPr>
              <a:t>PLATFORM</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Applications Integration with Power Apps and Power Automate</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TGS-2022015539</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v8.0  ·  4 September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Microsoft Power Platform, application integration, low-code development and business process automation.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Power Apps, Power Automate, Power BI and applications integration.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The systems you work with day to day — Excel, SharePoint, Outlook, a line-of-business app?</a:t>
            </a:r>
          </a:p>
          <a:p>
            <a:pPr>
              <a:spcAft>
                <a:spcPts val="1000"/>
              </a:spcAft>
            </a:pPr>
            <a:r>
              <a:rPr sz="2000" b="0">
                <a:solidFill>
                  <a:srgbClr val="161B26"/>
                </a:solidFill>
                <a:latin typeface="Arial"/>
              </a:rPr>
              <a:t>•  One manual, repetitive process in your work that you would most like to automate.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Applications Integration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ICT-DIT-3003-1.1  ·  Proficiency Level 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K1 / K2</a:t>
            </a:r>
          </a:p>
          <a:p>
            <a:pPr algn="l">
              <a:spcAft>
                <a:spcPts val="300"/>
              </a:spcAft>
            </a:pPr>
            <a:r>
              <a:rPr sz="1200" b="0">
                <a:solidFill>
                  <a:srgbClr val="5B6372"/>
                </a:solidFill>
                <a:latin typeface="Arial"/>
              </a:rPr>
              <a:t>Types of middleware and their features; proper usage of middleware.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K3 / K5</a:t>
            </a:r>
          </a:p>
          <a:p>
            <a:pPr algn="l">
              <a:spcAft>
                <a:spcPts val="300"/>
              </a:spcAft>
            </a:pPr>
            <a:r>
              <a:rPr sz="1200" b="0">
                <a:solidFill>
                  <a:srgbClr val="5B6372"/>
                </a:solidFill>
                <a:latin typeface="Arial"/>
              </a:rPr>
              <a:t>Platforms on which applications run; functions of Application Programming Interfaces.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K4</a:t>
            </a:r>
          </a:p>
          <a:p>
            <a:pPr algn="l">
              <a:spcAft>
                <a:spcPts val="300"/>
              </a:spcAft>
            </a:pPr>
            <a:r>
              <a:rPr sz="1200" b="0">
                <a:solidFill>
                  <a:srgbClr val="5B6372"/>
                </a:solidFill>
                <a:latin typeface="Arial"/>
              </a:rPr>
              <a:t>Potential technical, compatibility or performance issues in application integration.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A1 – A8</a:t>
            </a:r>
          </a:p>
          <a:p>
            <a:pPr algn="l">
              <a:spcAft>
                <a:spcPts val="300"/>
              </a:spcAft>
            </a:pPr>
            <a:r>
              <a:rPr sz="1200" b="0">
                <a:solidFill>
                  <a:srgbClr val="5B6372"/>
                </a:solidFill>
                <a:latin typeface="Arial"/>
              </a:rPr>
              <a:t>Identify opportunities, scan feasibility, integrate, support APIs, test, verify, highlight issues and mitigate them.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Opportunities, feasibility and building automation with Power Automate</a:t>
            </a:r>
          </a:p>
          <a:p>
            <a:pPr>
              <a:spcAft>
                <a:spcPts val="1000"/>
              </a:spcAft>
            </a:pPr>
            <a:r>
              <a:rPr sz="1400" b="0">
                <a:solidFill>
                  <a:srgbClr val="5B6372"/>
                </a:solidFill>
                <a:latin typeface="Arial"/>
              </a:rPr>
              <a:t>–  Digital Attendance (AM) · Introductions · Learning Outcomes</a:t>
            </a:r>
          </a:p>
          <a:p>
            <a:pPr>
              <a:spcAft>
                <a:spcPts val="1000"/>
              </a:spcAft>
            </a:pPr>
            <a:r>
              <a:rPr sz="1400" b="0">
                <a:solidFill>
                  <a:srgbClr val="5B6372"/>
                </a:solidFill>
                <a:latin typeface="Arial"/>
              </a:rPr>
              <a:t>–  Topic 1: Opportunities for Using Power Platform Apps (Labs 1–2)</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Power Automate (Labs 3–6)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Building canvas apps, integrating them with flows, and assessment</a:t>
            </a:r>
          </a:p>
          <a:p>
            <a:pPr>
              <a:spcAft>
                <a:spcPts val="1000"/>
              </a:spcAft>
            </a:pPr>
            <a:r>
              <a:rPr sz="1400" b="0">
                <a:solidFill>
                  <a:srgbClr val="5B6372"/>
                </a:solidFill>
                <a:latin typeface="Arial"/>
              </a:rPr>
              <a:t>–  Topic 3: Power Apps (Labs 7–10)</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4: Integrate Power Apps and Power Automate (Labs 11–14)</a:t>
            </a:r>
          </a:p>
          <a:p>
            <a:pPr>
              <a:spcAft>
                <a:spcPts val="1000"/>
              </a:spcAft>
            </a:pPr>
            <a:r>
              <a:rPr sz="1400" b="0">
                <a:solidFill>
                  <a:srgbClr val="5B6372"/>
                </a:solidFill>
                <a:latin typeface="Arial"/>
              </a:rPr>
              <a:t>–  TRAQOM Survey · Digital Attendance (Assessment)</a:t>
            </a:r>
          </a:p>
          <a:p>
            <a:pPr>
              <a:spcAft>
                <a:spcPts val="1000"/>
              </a:spcAft>
            </a:pPr>
            <a:r>
              <a:rPr sz="1400" b="0">
                <a:solidFill>
                  <a:srgbClr val="5B6372"/>
                </a:solidFill>
                <a:latin typeface="Arial"/>
              </a:rPr>
              <a:t>–  Final Assessment (WA 1 hr + PP 1.5 hrs)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Identify opportunities</a:t>
            </a:r>
          </a:p>
          <a:p>
            <a:pPr algn="l">
              <a:spcAft>
                <a:spcPts val="300"/>
              </a:spcAft>
            </a:pPr>
            <a:r>
              <a:rPr sz="1300" b="0">
                <a:solidFill>
                  <a:srgbClr val="5B6372"/>
                </a:solidFill>
                <a:latin typeface="Arial"/>
              </a:rPr>
              <a:t>Identify opportunities to use Power Platform apps and perform a feasibility scan for potential application integration.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Utilise Power Automate</a:t>
            </a:r>
          </a:p>
          <a:p>
            <a:pPr algn="l">
              <a:spcAft>
                <a:spcPts val="300"/>
              </a:spcAft>
            </a:pPr>
            <a:r>
              <a:rPr sz="1300" b="0">
                <a:solidFill>
                  <a:srgbClr val="5B6372"/>
                </a:solidFill>
                <a:latin typeface="Arial"/>
              </a:rPr>
              <a:t>Utilise and test Power Automate flows for business automation.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Create Power Apps</a:t>
            </a:r>
          </a:p>
          <a:p>
            <a:pPr algn="l">
              <a:spcAft>
                <a:spcPts val="300"/>
              </a:spcAft>
            </a:pPr>
            <a:r>
              <a:rPr sz="1300" b="0">
                <a:solidFill>
                  <a:srgbClr val="5B6372"/>
                </a:solidFill>
                <a:latin typeface="Arial"/>
              </a:rPr>
              <a:t>Create Power Apps canvas apps and verify their functionalities.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Improve with flows</a:t>
            </a:r>
          </a:p>
          <a:p>
            <a:pPr algn="l">
              <a:spcAft>
                <a:spcPts val="300"/>
              </a:spcAft>
            </a:pPr>
            <a:r>
              <a:rPr sz="1300" b="0">
                <a:solidFill>
                  <a:srgbClr val="5B6372"/>
                </a:solidFill>
                <a:latin typeface="Arial"/>
              </a:rPr>
              <a:t>Improve Power Apps with Power Automate flows, and resolve integration issues.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14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1 — Opportunities for Using Power Platform Apps</a:t>
            </a:r>
          </a:p>
          <a:p>
            <a:pPr algn="l">
              <a:spcAft>
                <a:spcPts val="300"/>
              </a:spcAft>
            </a:pPr>
            <a:r>
              <a:rPr sz="1300" b="0">
                <a:solidFill>
                  <a:srgbClr val="5B6372"/>
                </a:solidFill>
                <a:latin typeface="Arial"/>
              </a:rPr>
              <a:t>The integration landscape · middleware types · the Power Platform family · the feasibility scan · connectors.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2 — Power Automate</a:t>
            </a:r>
          </a:p>
          <a:p>
            <a:pPr algn="l">
              <a:spcAft>
                <a:spcPts val="300"/>
              </a:spcAft>
            </a:pPr>
            <a:r>
              <a:rPr sz="1300" b="0">
                <a:solidFill>
                  <a:srgbClr val="5B6372"/>
                </a:solidFill>
                <a:latin typeface="Arial"/>
              </a:rPr>
              <a:t>Cloud flow types · triggers and actions · dynamic content · conditions and branching · approvals · testing.</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3 — Power Apps</a:t>
            </a:r>
          </a:p>
          <a:p>
            <a:pPr algn="l">
              <a:spcAft>
                <a:spcPts val="300"/>
              </a:spcAft>
            </a:pPr>
            <a:r>
              <a:rPr sz="1300" b="0">
                <a:solidFill>
                  <a:srgbClr val="5B6372"/>
                </a:solidFill>
                <a:latin typeface="Arial"/>
              </a:rPr>
              <a:t>Canvas vs model-driven · data sources · Power Fx · custom connectors and APIs · publishing and sharing.</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4 — Integrate Power Apps and Power Automate</a:t>
            </a:r>
          </a:p>
          <a:p>
            <a:pPr algn="l">
              <a:spcAft>
                <a:spcPts val="300"/>
              </a:spcAft>
            </a:pPr>
            <a:r>
              <a:rPr sz="1300" b="0">
                <a:solidFill>
                  <a:srgbClr val="5B6372"/>
                </a:solidFill>
                <a:latin typeface="Arial"/>
              </a:rPr>
              <a:t>Calling a flow from an app · returning data · end-to-end approvals · troubleshooting and delegation.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open book. Five questions covering K1–K5.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Hands-on scenario tasks · 1.5 hours · open book. Four tasks covering A1–A8.</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Open book · 1h + 1.5h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Assessment Summary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PRACTICE EXAM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Before the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39315" y="1746504"/>
            <a:ext cx="6310322" cy="37764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actice-exam.png"/>
          <p:cNvPicPr>
            <a:picLocks noChangeAspect="1"/>
          </p:cNvPicPr>
          <p:nvPr/>
        </p:nvPicPr>
        <p:blipFill>
          <a:blip r:embed="rId2"/>
          <a:stretch>
            <a:fillRect/>
          </a:stretch>
        </p:blipFill>
        <p:spPr>
          <a:xfrm>
            <a:off x="2975891" y="1783080"/>
            <a:ext cx="6237170" cy="3703320"/>
          </a:xfrm>
          <a:prstGeom prst="rect">
            <a:avLst/>
          </a:prstGeom>
        </p:spPr>
      </p:pic>
      <p:sp>
        <p:nvSpPr>
          <p:cNvPr id="9" name="Rectangle 8"/>
          <p:cNvSpPr/>
          <p:nvPr/>
        </p:nvSpPr>
        <p:spPr>
          <a:xfrm>
            <a:off x="777240" y="5632704"/>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32704"/>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5632704"/>
            <a:ext cx="10241280" cy="658368"/>
          </a:xfrm>
          <a:prstGeom prst="rect">
            <a:avLst/>
          </a:prstGeom>
          <a:noFill/>
        </p:spPr>
        <p:txBody>
          <a:bodyPr wrap="square" anchor="ctr">
            <a:spAutoFit/>
          </a:bodyPr>
          <a:lstStyle/>
          <a:p>
            <a:pPr algn="l">
              <a:spcAft>
                <a:spcPts val="200"/>
              </a:spcAft>
            </a:pPr>
            <a:r>
              <a:rPr sz="1100" b="1">
                <a:solidFill>
                  <a:srgbClr val="1F6FEB"/>
                </a:solidFill>
                <a:latin typeface="Arial"/>
              </a:rPr>
              <a:t>WHAT TO LOOK AT</a:t>
            </a:r>
          </a:p>
          <a:p>
            <a:pPr algn="l">
              <a:spcAft>
                <a:spcPts val="200"/>
              </a:spcAft>
            </a:pPr>
            <a:r>
              <a:rPr sz="1300" b="0">
                <a:solidFill>
                  <a:srgbClr val="161B26"/>
                </a:solidFill>
                <a:latin typeface="Arial"/>
              </a:rPr>
              <a:t>Work through the practice questions at exams.tertiaryinfotech.com to rehearse the knowledge questions before you sit the Written Assessment.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Microsoft 365 account</a:t>
            </a:r>
          </a:p>
          <a:p>
            <a:pPr algn="l">
              <a:spcAft>
                <a:spcPts val="300"/>
              </a:spcAft>
            </a:pPr>
            <a:r>
              <a:rPr sz="1200" b="0">
                <a:solidFill>
                  <a:srgbClr val="5B6372"/>
                </a:solidFill>
                <a:latin typeface="Arial"/>
              </a:rPr>
              <a:t>Sign in with the training account your trainer issues — it carries the Power Platform licence.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course environment</a:t>
            </a:r>
          </a:p>
          <a:p>
            <a:pPr algn="l">
              <a:spcAft>
                <a:spcPts val="300"/>
              </a:spcAft>
            </a:pPr>
            <a:r>
              <a:rPr sz="1200" b="0">
                <a:solidFill>
                  <a:srgbClr val="5B6372"/>
                </a:solidFill>
                <a:latin typeface="Arial"/>
              </a:rPr>
              <a:t>Switch the environment picker to TGS-2022015539-Applications Integration with Power Apps and Power Automate.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Automate</a:t>
            </a:r>
          </a:p>
          <a:p>
            <a:pPr algn="l">
              <a:spcAft>
                <a:spcPts val="300"/>
              </a:spcAft>
            </a:pPr>
            <a:r>
              <a:rPr sz="1200" b="0">
                <a:solidFill>
                  <a:srgbClr val="5B6372"/>
                </a:solidFill>
                <a:latin typeface="Arial"/>
              </a:rPr>
              <a:t>Open make.powerautomate.com — this is where you build every flow.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Apps</a:t>
            </a:r>
          </a:p>
          <a:p>
            <a:pPr algn="l">
              <a:spcAft>
                <a:spcPts val="300"/>
              </a:spcAft>
            </a:pPr>
            <a:r>
              <a:rPr sz="1200" b="0">
                <a:solidFill>
                  <a:srgbClr val="5B6372"/>
                </a:solidFill>
                <a:latin typeface="Arial"/>
              </a:rPr>
              <a:t>Open make.powerapps.com — this is where you build every app.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 data</a:t>
            </a:r>
          </a:p>
          <a:p>
            <a:pPr algn="l">
              <a:spcAft>
                <a:spcPts val="300"/>
              </a:spcAft>
            </a:pPr>
            <a:r>
              <a:rPr sz="1200" b="0">
                <a:solidFill>
                  <a:srgbClr val="5B6372"/>
                </a:solidFill>
                <a:latin typeface="Arial"/>
              </a:rPr>
              <a:t>Download the lab workbooks from the LMS and upload them to your OneDrive for Business.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Microsoft Teams</a:t>
            </a:r>
          </a:p>
          <a:p>
            <a:pPr algn="l">
              <a:spcAft>
                <a:spcPts val="300"/>
              </a:spcAft>
            </a:pPr>
            <a:r>
              <a:rPr sz="1200" b="0">
                <a:solidFill>
                  <a:srgbClr val="5B6372"/>
                </a:solidFill>
                <a:latin typeface="Arial"/>
              </a:rPr>
              <a:t>Approvals arrive in Teams, so make sure you can sign in to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ENVIRONMENT · PRE-BUILT FLOWS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39315" y="1746504"/>
            <a:ext cx="6310322" cy="37764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flows-list.png"/>
          <p:cNvPicPr>
            <a:picLocks noChangeAspect="1"/>
          </p:cNvPicPr>
          <p:nvPr/>
        </p:nvPicPr>
        <p:blipFill>
          <a:blip r:embed="rId2"/>
          <a:stretch>
            <a:fillRect/>
          </a:stretch>
        </p:blipFill>
        <p:spPr>
          <a:xfrm>
            <a:off x="2975891" y="1783080"/>
            <a:ext cx="6237170" cy="3703320"/>
          </a:xfrm>
          <a:prstGeom prst="rect">
            <a:avLst/>
          </a:prstGeom>
        </p:spPr>
      </p:pic>
      <p:sp>
        <p:nvSpPr>
          <p:cNvPr id="9" name="Rectangle 8"/>
          <p:cNvSpPr/>
          <p:nvPr/>
        </p:nvSpPr>
        <p:spPr>
          <a:xfrm>
            <a:off x="777240" y="5632704"/>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32704"/>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5632704"/>
            <a:ext cx="10241280" cy="658368"/>
          </a:xfrm>
          <a:prstGeom prst="rect">
            <a:avLst/>
          </a:prstGeom>
          <a:noFill/>
        </p:spPr>
        <p:txBody>
          <a:bodyPr wrap="square" anchor="ctr">
            <a:spAutoFit/>
          </a:bodyPr>
          <a:lstStyle/>
          <a:p>
            <a:pPr algn="l">
              <a:spcAft>
                <a:spcPts val="200"/>
              </a:spcAft>
            </a:pPr>
            <a:r>
              <a:rPr sz="1100" b="1">
                <a:solidFill>
                  <a:srgbClr val="1F6FEB"/>
                </a:solidFill>
                <a:latin typeface="Arial"/>
              </a:rPr>
              <a:t>WHAT TO LOOK AT</a:t>
            </a:r>
          </a:p>
          <a:p>
            <a:pPr algn="l">
              <a:spcAft>
                <a:spcPts val="200"/>
              </a:spcAft>
            </a:pPr>
            <a:r>
              <a:rPr sz="1300" b="0">
                <a:solidFill>
                  <a:srgbClr val="161B26"/>
                </a:solidFill>
                <a:latin typeface="Arial"/>
              </a:rPr>
              <a:t>Every flow you build is named 'Lab N - ... (DO NOT DELETE)'. The environment picker at the top right must read the course environment before you build anything.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Application Integration and the Power Platform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Integration is what happens between the systems.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Most business software is bought, not built. The value you add is making the pieces talk to each other — and middleware is the layer where that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 · FOUNDATIONS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Application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Connecting systems</a:t>
            </a:r>
          </a:p>
          <a:p>
            <a:pPr algn="l">
              <a:spcAft>
                <a:spcPts val="300"/>
              </a:spcAft>
            </a:pPr>
            <a:r>
              <a:rPr sz="1300" b="0">
                <a:solidFill>
                  <a:srgbClr val="5B6372"/>
                </a:solidFill>
                <a:latin typeface="Arial"/>
              </a:rPr>
              <a:t>Making two or more applications exchange data and trigger each other's functions without a human retyping anything.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Why it matters</a:t>
            </a:r>
          </a:p>
          <a:p>
            <a:pPr algn="l">
              <a:spcAft>
                <a:spcPts val="300"/>
              </a:spcAft>
            </a:pPr>
            <a:r>
              <a:rPr sz="1300" b="0">
                <a:solidFill>
                  <a:srgbClr val="5B6372"/>
                </a:solidFill>
                <a:latin typeface="Arial"/>
              </a:rPr>
              <a:t>Every manual re-keying step is slow, costs money and introduces errors that are expensive to find later.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Point-to-point vs hub</a:t>
            </a:r>
          </a:p>
          <a:p>
            <a:pPr algn="l">
              <a:spcAft>
                <a:spcPts val="300"/>
              </a:spcAft>
            </a:pPr>
            <a:r>
              <a:rPr sz="1300" b="0">
                <a:solidFill>
                  <a:srgbClr val="5B6372"/>
                </a:solidFill>
                <a:latin typeface="Arial"/>
              </a:rPr>
              <a:t>Direct connections are quick but multiply; a hub (middleware) keeps the number of connections manageable.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 integrate</a:t>
            </a:r>
          </a:p>
          <a:p>
            <a:pPr algn="l">
              <a:spcAft>
                <a:spcPts val="300"/>
              </a:spcAft>
            </a:pPr>
            <a:r>
              <a:rPr sz="1300" b="0">
                <a:solidFill>
                  <a:srgbClr val="5B6372"/>
                </a:solidFill>
                <a:latin typeface="Arial"/>
              </a:rPr>
              <a:t>Devices, databases, software and applications — the four categories named in the TSC.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K1 · TYPES OF MIDDLEWARE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Types of Middleware and Their Features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example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Strength</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Integration platform (iPaaS)</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Cloud service that connects apps with prebuilt connectors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Power Automate, Zapier, MuleSoft</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Fast to build, no servers to run</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Message broker</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Queues messages between producers and consumers</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Azure Service Bus, RabbitMQ</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Decouples systems; survives outages</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API gateway</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Fronts and secures a set of APIs</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Azure API Management</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Central auth, throttling, versioning</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ETL / data pipeline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Moves and reshapes data in bulk on a schedule</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Azure Data Factory, SSIS</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 volume, scheduled loads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RPA</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Drives a user interface when there is no API</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Power Automate Desktop</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Reaches legacy systems with no API</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Power Platform is an iPaaS with RPA attached — that is why it can reach both modern SaaS APIs and legacy desktop applications.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PRODUCT FAMILY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Microsoft Power Platform Family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Apps</a:t>
            </a:r>
          </a:p>
          <a:p>
            <a:pPr algn="l">
              <a:spcAft>
                <a:spcPts val="300"/>
              </a:spcAft>
            </a:pPr>
            <a:r>
              <a:rPr sz="1200" b="0">
                <a:solidFill>
                  <a:srgbClr val="5B6372"/>
                </a:solidFill>
                <a:latin typeface="Arial"/>
              </a:rPr>
              <a:t>Build custom business apps quickly with low code — canvas apps and model-driven apps.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Automate</a:t>
            </a:r>
          </a:p>
          <a:p>
            <a:pPr algn="l">
              <a:spcAft>
                <a:spcPts val="300"/>
              </a:spcAft>
            </a:pPr>
            <a:r>
              <a:rPr sz="1200" b="0">
                <a:solidFill>
                  <a:srgbClr val="5B6372"/>
                </a:solidFill>
                <a:latin typeface="Arial"/>
              </a:rPr>
              <a:t>Automate workflows between applications and services — the middleware in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BI</a:t>
            </a:r>
          </a:p>
          <a:p>
            <a:pPr algn="l">
              <a:spcAft>
                <a:spcPts val="300"/>
              </a:spcAft>
            </a:pPr>
            <a:r>
              <a:rPr sz="1200" b="0">
                <a:solidFill>
                  <a:srgbClr val="5B6372"/>
                </a:solidFill>
                <a:latin typeface="Arial"/>
              </a:rPr>
              <a:t>Analyse and visualise data from across those connected systems.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Copilot Studio</a:t>
            </a:r>
          </a:p>
          <a:p>
            <a:pPr algn="l">
              <a:spcAft>
                <a:spcPts val="300"/>
              </a:spcAft>
            </a:pPr>
            <a:r>
              <a:rPr sz="1200" b="0">
                <a:solidFill>
                  <a:srgbClr val="5B6372"/>
                </a:solidFill>
                <a:latin typeface="Arial"/>
              </a:rPr>
              <a:t>Build conversational agents over the same data and actions.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Dataverse</a:t>
            </a:r>
          </a:p>
          <a:p>
            <a:pPr algn="l">
              <a:spcAft>
                <a:spcPts val="300"/>
              </a:spcAft>
            </a:pPr>
            <a:r>
              <a:rPr sz="1200" b="0">
                <a:solidFill>
                  <a:srgbClr val="5B6372"/>
                </a:solidFill>
                <a:latin typeface="Arial"/>
              </a:rPr>
              <a:t>The secure, governed data store that underpins the whole platform.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Connectors</a:t>
            </a:r>
          </a:p>
          <a:p>
            <a:pPr algn="l">
              <a:spcAft>
                <a:spcPts val="300"/>
              </a:spcAft>
            </a:pPr>
            <a:r>
              <a:rPr sz="1200" b="0">
                <a:solidFill>
                  <a:srgbClr val="5B6372"/>
                </a:solidFill>
                <a:latin typeface="Arial"/>
              </a:rPr>
              <a:t>1,000+ prebuilt connectors plus custom connectors — the API surface that ties it all together.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K5 · APIs AND CONNECTORS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Connectors — the API Surface of the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39315" y="1746504"/>
            <a:ext cx="6310322" cy="37764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connectors.png"/>
          <p:cNvPicPr>
            <a:picLocks noChangeAspect="1"/>
          </p:cNvPicPr>
          <p:nvPr/>
        </p:nvPicPr>
        <p:blipFill>
          <a:blip r:embed="rId2"/>
          <a:stretch>
            <a:fillRect/>
          </a:stretch>
        </p:blipFill>
        <p:spPr>
          <a:xfrm>
            <a:off x="2975891" y="1783080"/>
            <a:ext cx="6237170" cy="3703320"/>
          </a:xfrm>
          <a:prstGeom prst="rect">
            <a:avLst/>
          </a:prstGeom>
        </p:spPr>
      </p:pic>
      <p:sp>
        <p:nvSpPr>
          <p:cNvPr id="9" name="Rectangle 8"/>
          <p:cNvSpPr/>
          <p:nvPr/>
        </p:nvSpPr>
        <p:spPr>
          <a:xfrm>
            <a:off x="777240" y="5632704"/>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32704"/>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5632704"/>
            <a:ext cx="10241280" cy="658368"/>
          </a:xfrm>
          <a:prstGeom prst="rect">
            <a:avLst/>
          </a:prstGeom>
          <a:noFill/>
        </p:spPr>
        <p:txBody>
          <a:bodyPr wrap="square" anchor="ctr">
            <a:spAutoFit/>
          </a:bodyPr>
          <a:lstStyle/>
          <a:p>
            <a:pPr algn="l">
              <a:spcAft>
                <a:spcPts val="200"/>
              </a:spcAft>
            </a:pPr>
            <a:r>
              <a:rPr sz="1100" b="1">
                <a:solidFill>
                  <a:srgbClr val="1F6FEB"/>
                </a:solidFill>
                <a:latin typeface="Arial"/>
              </a:rPr>
              <a:t>WHAT TO LOOK AT</a:t>
            </a:r>
          </a:p>
          <a:p>
            <a:pPr algn="l">
              <a:spcAft>
                <a:spcPts val="200"/>
              </a:spcAft>
            </a:pPr>
            <a:r>
              <a:rPr sz="1300" b="0">
                <a:solidFill>
                  <a:srgbClr val="161B26"/>
                </a:solidFill>
                <a:latin typeface="Arial"/>
              </a:rPr>
              <a:t>A connector is a packaged API. Standard connectors are included; Premium connectors need a licence; a custom connector wraps any REST API you can reach.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 · THE EXECUTION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Cloud Flow Executes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Trigger fires</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An event occurs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Inputs are read</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Trigger outputs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Actions run in order</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Each calls a connector</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Data passes forward</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Dynamic content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Run is recorded</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28-day run history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flow is a trigger plus an ordered set of actions. Everything you build in Topic 2 is a variation on this one shape.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A2 · FEASIBILITY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Is Power Platform the Right Middleware 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Does a connector
exist, and is the
data ready?</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build it low-code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Use Power Automate for the integration and Power Apps for the interface. Fastest route to value, and maintainable by the business.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reconsider</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No connector? Build a custom connector or use Azure Integration Services. Data not ready? Fix the source first — integration will not repair bad data.</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 feasibility scan that approves everything is not a scan. Recording a defensible 'no' is as valuable as approving a build.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A2 · THE FEASIBILITY SCAN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Six Feasibility Criteria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Connector availability</a:t>
            </a:r>
          </a:p>
          <a:p>
            <a:pPr algn="l">
              <a:spcAft>
                <a:spcPts val="300"/>
              </a:spcAft>
            </a:pPr>
            <a:r>
              <a:rPr sz="1200" b="0">
                <a:solidFill>
                  <a:srgbClr val="5B6372"/>
                </a:solidFill>
                <a:latin typeface="Arial"/>
              </a:rPr>
              <a:t>Does a standard connector exist, is it Premium, or must you build a custom connector?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readiness</a:t>
            </a:r>
          </a:p>
          <a:p>
            <a:pPr algn="l">
              <a:spcAft>
                <a:spcPts val="300"/>
              </a:spcAft>
            </a:pPr>
            <a:r>
              <a:rPr sz="1200" b="0">
                <a:solidFill>
                  <a:srgbClr val="5B6372"/>
                </a:solidFill>
                <a:latin typeface="Arial"/>
              </a:rPr>
              <a:t>Is the source structured, does it have a stable key, is the Excel range a real 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Licensing</a:t>
            </a:r>
          </a:p>
          <a:p>
            <a:pPr algn="l">
              <a:spcAft>
                <a:spcPts val="300"/>
              </a:spcAft>
            </a:pPr>
            <a:r>
              <a:rPr sz="1200" b="0">
                <a:solidFill>
                  <a:srgbClr val="5B6372"/>
                </a:solidFill>
                <a:latin typeface="Arial"/>
              </a:rPr>
              <a:t>Premium connectors and Dataverse need the right plan — check before you design.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 &amp; governance</a:t>
            </a:r>
          </a:p>
          <a:p>
            <a:pPr algn="l">
              <a:spcAft>
                <a:spcPts val="300"/>
              </a:spcAft>
            </a:pPr>
            <a:r>
              <a:rPr sz="1200" b="0">
                <a:solidFill>
                  <a:srgbClr val="5B6372"/>
                </a:solidFill>
                <a:latin typeface="Arial"/>
              </a:rPr>
              <a:t>Who owns the data, which account runs the flow, does a DLP policy block the combination?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a:t>
            </a:r>
          </a:p>
          <a:p>
            <a:pPr algn="l">
              <a:spcAft>
                <a:spcPts val="300"/>
              </a:spcAft>
            </a:pPr>
            <a:r>
              <a:rPr sz="1200" b="0">
                <a:solidFill>
                  <a:srgbClr val="5B6372"/>
                </a:solidFill>
                <a:latin typeface="Arial"/>
              </a:rPr>
              <a:t>Row counts, delegation support and connector throttling limits.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Maintainability</a:t>
            </a:r>
          </a:p>
          <a:p>
            <a:pPr algn="l">
              <a:spcAft>
                <a:spcPts val="300"/>
              </a:spcAft>
            </a:pPr>
            <a:r>
              <a:rPr sz="1200" b="0">
                <a:solidFill>
                  <a:srgbClr val="5B6372"/>
                </a:solidFill>
                <a:latin typeface="Arial"/>
              </a:rPr>
              <a:t>Who supports this after you build it, and how will they know when it breaks?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Topics 2 and 3 carry the most time because that is where the practical ability assessed by the PP is built. Topic 4 is shorter but joins everything together — and is where the A7/A8 troubleshooting marks sit.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K1 · WHY INTEGRATE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Cost of Manual Re-Keying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Indicative figures for teaching the trade-off, not a benchmark. The shape is what matters: integration cuts both handling time and error rate, and the error reduction is usually worth more than the time saved.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K3 · CHOOSING AN APP TYPE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App vs Model-Driven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Canvas app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Model-driven app</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Who designs the UI</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do — pixel by pixel</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Generated from the data model</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Data source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Any connector — Excel, SharePoint, SQL, APIs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Dataverse only</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Task-focused apps with a specific look</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Data-heavy, process-driven applications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Skill needed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Power Fx formulas, layout sense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Data modelling, forms and views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Build speed</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Fast for small apps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Fast for large, standard CRUD apps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This course builds canvas apps, because a canvas app can bind to any connector — which is what makes it an integration surface.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 · FOUR SHAPES OF FLOW</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Cloud Flow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Automated</a:t>
            </a:r>
          </a:p>
          <a:p>
            <a:pPr algn="l">
              <a:spcAft>
                <a:spcPts val="300"/>
              </a:spcAft>
            </a:pPr>
            <a:r>
              <a:rPr sz="1300" b="0">
                <a:solidFill>
                  <a:srgbClr val="5B6372"/>
                </a:solidFill>
                <a:latin typeface="Arial"/>
              </a:rPr>
              <a:t>Starts when an event happens in a connected service — a mail arrives, a file is created, a row is added.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Instant</a:t>
            </a:r>
          </a:p>
          <a:p>
            <a:pPr algn="l">
              <a:spcAft>
                <a:spcPts val="300"/>
              </a:spcAft>
            </a:pPr>
            <a:r>
              <a:rPr sz="1300" b="0">
                <a:solidFill>
                  <a:srgbClr val="5B6372"/>
                </a:solidFill>
                <a:latin typeface="Arial"/>
              </a:rPr>
              <a:t>Started by a person, from a button, the mobile app, or from inside a canvas app.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Scheduled</a:t>
            </a:r>
          </a:p>
          <a:p>
            <a:pPr algn="l">
              <a:spcAft>
                <a:spcPts val="300"/>
              </a:spcAft>
            </a:pPr>
            <a:r>
              <a:rPr sz="1300" b="0">
                <a:solidFill>
                  <a:srgbClr val="5B6372"/>
                </a:solidFill>
                <a:latin typeface="Arial"/>
              </a:rPr>
              <a:t>Runs on a recurrence — hourly, daily, weekly — for digests, syncs and housekeeping.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Desktop (RPA)</a:t>
            </a:r>
          </a:p>
          <a:p>
            <a:pPr algn="l">
              <a:spcAft>
                <a:spcPts val="300"/>
              </a:spcAft>
            </a:pPr>
            <a:r>
              <a:rPr sz="1300" b="0">
                <a:solidFill>
                  <a:srgbClr val="5B6372"/>
                </a:solidFill>
                <a:latin typeface="Arial"/>
              </a:rPr>
              <a:t>Drives a user interface for systems that have no API at all.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 · WHERE YOU WILL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Power Automate Designer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39315" y="1746504"/>
            <a:ext cx="6310322" cy="37764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designer-lab3.png"/>
          <p:cNvPicPr>
            <a:picLocks noChangeAspect="1"/>
          </p:cNvPicPr>
          <p:nvPr/>
        </p:nvPicPr>
        <p:blipFill>
          <a:blip r:embed="rId2"/>
          <a:stretch>
            <a:fillRect/>
          </a:stretch>
        </p:blipFill>
        <p:spPr>
          <a:xfrm>
            <a:off x="2975891" y="1783080"/>
            <a:ext cx="6237170" cy="3703320"/>
          </a:xfrm>
          <a:prstGeom prst="rect">
            <a:avLst/>
          </a:prstGeom>
        </p:spPr>
      </p:pic>
      <p:sp>
        <p:nvSpPr>
          <p:cNvPr id="9" name="Rectangle 8"/>
          <p:cNvSpPr/>
          <p:nvPr/>
        </p:nvSpPr>
        <p:spPr>
          <a:xfrm>
            <a:off x="777240" y="5632704"/>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32704"/>
            <a:ext cx="9144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5632704"/>
            <a:ext cx="10241280" cy="658368"/>
          </a:xfrm>
          <a:prstGeom prst="rect">
            <a:avLst/>
          </a:prstGeom>
          <a:noFill/>
        </p:spPr>
        <p:txBody>
          <a:bodyPr wrap="square" anchor="ctr">
            <a:spAutoFit/>
          </a:bodyPr>
          <a:lstStyle/>
          <a:p>
            <a:pPr algn="l">
              <a:spcAft>
                <a:spcPts val="200"/>
              </a:spcAft>
            </a:pPr>
            <a:r>
              <a:rPr sz="1100" b="1">
                <a:solidFill>
                  <a:srgbClr val="1F6FEB"/>
                </a:solidFill>
                <a:latin typeface="Arial"/>
              </a:rPr>
              <a:t>WHAT TO LOOK AT</a:t>
            </a:r>
          </a:p>
          <a:p>
            <a:pPr algn="l">
              <a:spcAft>
                <a:spcPts val="200"/>
              </a:spcAft>
            </a:pPr>
            <a:r>
              <a:rPr sz="1300" b="0">
                <a:solidFill>
                  <a:srgbClr val="161B26"/>
                </a:solidFill>
                <a:latin typeface="Arial"/>
              </a:rPr>
              <a:t>The trigger sits at the top, actions run downward, and the + between them adds a step. The right-hand pane configures whichever action is selected.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K2 · WORKED EXAMPLE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Flow Definition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Every flow you build is this shape underneath — learn to read it once and the designer stops being a mystery.</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"triggers": {</a:t>
            </a:r>
          </a:p>
          <a:p>
            <a:pPr>
              <a:spcAft>
                <a:spcPts val="200"/>
              </a:spcAft>
            </a:pPr>
            <a:r>
              <a:rPr sz="1100">
                <a:solidFill>
                  <a:srgbClr val="9CDCFE"/>
                </a:solidFill>
                <a:latin typeface="Consolas"/>
              </a:rPr>
              <a:t>  "When_a_new_email_arrives_(V3)": {</a:t>
            </a:r>
          </a:p>
          <a:p>
            <a:pPr>
              <a:spcAft>
                <a:spcPts val="200"/>
              </a:spcAft>
            </a:pPr>
            <a:r>
              <a:rPr sz="1100">
                <a:solidFill>
                  <a:srgbClr val="9CDCFE"/>
                </a:solidFill>
                <a:latin typeface="Consolas"/>
              </a:rPr>
              <a:t>    "type": "OpenApiConnectionNotification",</a:t>
            </a:r>
          </a:p>
          <a:p>
            <a:pPr>
              <a:spcAft>
                <a:spcPts val="200"/>
              </a:spcAft>
            </a:pPr>
            <a:r>
              <a:rPr sz="1100">
                <a:solidFill>
                  <a:srgbClr val="9CDCFE"/>
                </a:solidFill>
                <a:latin typeface="Consolas"/>
              </a:rPr>
              <a:t>    "inputs": { "parameters": {</a:t>
            </a:r>
          </a:p>
          <a:p>
            <a:pPr>
              <a:spcAft>
                <a:spcPts val="200"/>
              </a:spcAft>
            </a:pPr>
            <a:r>
              <a:rPr sz="1100">
                <a:solidFill>
                  <a:srgbClr val="9CDCFE"/>
                </a:solidFill>
                <a:latin typeface="Consolas"/>
              </a:rPr>
              <a:t>        "folderPath": "Inbox",</a:t>
            </a:r>
          </a:p>
          <a:p>
            <a:pPr>
              <a:spcAft>
                <a:spcPts val="200"/>
              </a:spcAft>
            </a:pPr>
            <a:r>
              <a:rPr sz="1100">
                <a:solidFill>
                  <a:srgbClr val="9CDCFE"/>
                </a:solidFill>
                <a:latin typeface="Consolas"/>
              </a:rPr>
              <a:t>        "subjectFilter": "SERVICE" } } } },</a:t>
            </a:r>
          </a:p>
          <a:p>
            <a:pPr>
              <a:spcAft>
                <a:spcPts val="200"/>
              </a:spcAft>
            </a:pPr>
            <a:r>
              <a:rPr sz="1100">
                <a:solidFill>
                  <a:srgbClr val="9CDCFE"/>
                </a:solidFill>
                <a:latin typeface="Consolas"/>
              </a:rPr>
              <a:t>"actions": {</a:t>
            </a:r>
          </a:p>
          <a:p>
            <a:pPr>
              <a:spcAft>
                <a:spcPts val="200"/>
              </a:spcAft>
            </a:pPr>
            <a:r>
              <a:rPr sz="1100">
                <a:solidFill>
                  <a:srgbClr val="9CDCFE"/>
                </a:solidFill>
                <a:latin typeface="Consolas"/>
              </a:rPr>
              <a:t>  "Compose": { "type": "Compose",</a:t>
            </a:r>
          </a:p>
          <a:p>
            <a:pPr>
              <a:spcAft>
                <a:spcPts val="200"/>
              </a:spcAft>
            </a:pPr>
            <a:r>
              <a:rPr sz="1100">
                <a:solidFill>
                  <a:srgbClr val="9CDCFE"/>
                </a:solidFill>
                <a:latin typeface="Consolas"/>
              </a:rPr>
              <a:t>    "inputs": "@{triggerOutputs()?['body/from']}" },</a:t>
            </a:r>
          </a:p>
          <a:p>
            <a:pPr>
              <a:spcAft>
                <a:spcPts val="200"/>
              </a:spcAft>
            </a:pPr>
            <a:r>
              <a:rPr sz="1100">
                <a:solidFill>
                  <a:srgbClr val="9CDCFE"/>
                </a:solidFill>
                <a:latin typeface="Consolas"/>
              </a:rPr>
              <a:t>  "Send_an_email_(V2)": {</a:t>
            </a:r>
          </a:p>
          <a:p>
            <a:pPr>
              <a:spcAft>
                <a:spcPts val="200"/>
              </a:spcAft>
            </a:pPr>
            <a:r>
              <a:rPr sz="1100">
                <a:solidFill>
                  <a:srgbClr val="9CDCFE"/>
                </a:solidFill>
                <a:latin typeface="Consolas"/>
              </a:rPr>
              <a:t>    "runAfter": { "Compose": ["Succeeded"] } } }</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triggers</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single event that starts the run. A flow has exactly one.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subjectFilter</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Narrows what fires the flow — cheaper and clearer than filtering later.</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@{triggerOutputs()...}</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Dynamic content: how data crosses from one action to the next.</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runAfter</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dependency that orders the actions, and what to do when one fails.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THE APP FORMULA LANGUAGE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Fx — the Formula Language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Excel-like</a:t>
            </a:r>
          </a:p>
          <a:p>
            <a:pPr algn="l">
              <a:spcAft>
                <a:spcPts val="300"/>
              </a:spcAft>
            </a:pPr>
            <a:r>
              <a:rPr sz="1300" b="0">
                <a:solidFill>
                  <a:srgbClr val="5B6372"/>
                </a:solidFill>
                <a:latin typeface="Arial"/>
              </a:rPr>
              <a:t>If you can write an Excel formula, you can write Power Fx. Same mental model, same functions.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Declarative</a:t>
            </a:r>
          </a:p>
          <a:p>
            <a:pPr algn="l">
              <a:spcAft>
                <a:spcPts val="300"/>
              </a:spcAft>
            </a:pPr>
            <a:r>
              <a:rPr sz="1300" b="0">
                <a:solidFill>
                  <a:srgbClr val="5B6372"/>
                </a:solidFill>
                <a:latin typeface="Arial"/>
              </a:rPr>
              <a:t>You set a property to a formula; it recalculates whenever its inputs change.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Binds controls to data</a:t>
            </a:r>
          </a:p>
          <a:p>
            <a:pPr algn="l">
              <a:spcAft>
                <a:spcPts val="300"/>
              </a:spcAft>
            </a:pPr>
            <a:r>
              <a:rPr sz="1300" b="0">
                <a:solidFill>
                  <a:srgbClr val="5B6372"/>
                </a:solidFill>
                <a:latin typeface="Arial"/>
              </a:rPr>
              <a:t>Items, Text, Visible, DisplayMode and OnSelect are the properties you will use most.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Delegation matters</a:t>
            </a:r>
          </a:p>
          <a:p>
            <a:pPr algn="l">
              <a:spcAft>
                <a:spcPts val="300"/>
              </a:spcAft>
            </a:pPr>
            <a:r>
              <a:rPr sz="1300" b="0">
                <a:solidFill>
                  <a:srgbClr val="5B6372"/>
                </a:solidFill>
                <a:latin typeface="Arial"/>
              </a:rPr>
              <a:t>Some functions run in the data source; others pull rows to the device. Know which.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K4 · A7 / A8 · DIAGNOSIS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Classes of Integration Issue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looks like</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Typical cause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you fix it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Technical</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Flow fails with 401/403; connection shows an error</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Expired or revoked connection, wrong account, DLP policy</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Re-authenticate the connection; check DLP; use a service account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Compatibility</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Schema validation error; wrong data in the target field</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Type mismatch — text passed where a number is expected; date format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Coerce the type at the call site; agree a contract for the payload</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Performance</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Blue delegation warning; only the first rows appear; timeouts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Non-delegable function; too many rows; connector throttling</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Rewrite to a delegable filter; reduce rows at source; batch the calls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Lab 14 makes you provoke one of each on purpose — diagnosing a fault you caused is the fastest way to learn to diagnose one you did not.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K4 · THE CLASSIC PERFORMANCE TRAP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Delegation is the defect you will meet most.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When a formula cannot be delegated, Power Apps pulls only the first 500 rows to the device and filters there — so your app silently shows the wrong answer instead of failing loudly.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Opportunities for Using Power Platform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Integration landscape · feasibility scan · Power Platform product family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advClick="1">
    <p:push dir="l"/>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K1, A1,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Opportunities for Using Power Platform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Application integration connects disparate systems so data and functions flow between them without manual re-keying.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Middleware is the software layer that sits between applications and brokers that exchange — Power Platform is low-code integration middleware.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Power Platform family: Power Apps (build), Power Automate (automate), Power BI (analyse), Copilot Studio (converse), Dataverse (store).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K1, A1, A2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Opportunities for Using Power Platform Apps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A feasibility scan weighs business value, data readiness, connector availability, licensing, security and governance before you build.</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Connectors are the API surface of the platform: 1,000+ prebuilt connectors plus custom connectors for any REST API.</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Opportunities for Using Power Platform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8863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31436"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4631436" cy="3108960"/>
          </a:xfrm>
          <a:prstGeom prst="rect">
            <a:avLst/>
          </a:prstGeom>
          <a:noFill/>
        </p:spPr>
        <p:txBody>
          <a:bodyPr wrap="square">
            <a:spAutoFit/>
          </a:bodyPr>
          <a:lstStyle/>
          <a:p>
            <a:pPr>
              <a:spcAft>
                <a:spcPts val="900"/>
              </a:spcAft>
            </a:pPr>
            <a:r>
              <a:rPr sz="1400" b="0">
                <a:solidFill>
                  <a:srgbClr val="161B26"/>
                </a:solidFill>
                <a:latin typeface="Arial"/>
              </a:rPr>
              <a:t>•  Integration Opportunity Scan</a:t>
            </a:r>
          </a:p>
        </p:txBody>
      </p:sp>
      <p:sp>
        <p:nvSpPr>
          <p:cNvPr id="11" name="Rectangle 10"/>
          <p:cNvSpPr/>
          <p:nvPr/>
        </p:nvSpPr>
        <p:spPr>
          <a:xfrm>
            <a:off x="6323076"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23076" y="1783080"/>
            <a:ext cx="508863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1676" y="2011680"/>
            <a:ext cx="4631436"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6551676" y="2697480"/>
            <a:ext cx="4631436" cy="3108960"/>
          </a:xfrm>
          <a:prstGeom prst="rect">
            <a:avLst/>
          </a:prstGeom>
          <a:noFill/>
        </p:spPr>
        <p:txBody>
          <a:bodyPr wrap="square">
            <a:spAutoFit/>
          </a:bodyPr>
          <a:lstStyle/>
          <a:p>
            <a:pPr>
              <a:spcAft>
                <a:spcPts val="900"/>
              </a:spcAft>
            </a:pPr>
            <a:r>
              <a:rPr sz="1400" b="0">
                <a:solidFill>
                  <a:srgbClr val="161B26"/>
                </a:solidFill>
                <a:latin typeface="Arial"/>
              </a:rPr>
              <a:t>•  Feasibility Scan and Middleware Selection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Integration Opportunity Scan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Types of middleware and their features; A1 Identify opportunities for creating connections among various devices, databases, software and applications.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Working from the KinetEco service-desk scenario, map the organisation's current manual process end to end and mark every point where data is re-keyed between systems. Each re-keying point is an integration opportunity. Classify each candidate by the systems it joins (device, database, software, application) and score it for volume, error rate and business impact.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Integration Opportunity Register listing at least six candidate integrations, each classified and scored.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Platform admin center, Excel, Power Automate connector catalogue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register lists at least six candidates, each naming a source system, a target system, a connector and a score. The top-ranked candidate should be the service-call intake — the one you automate in Lab 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Open the environment</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course env picker</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Read the manual process</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KinetEco service calls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Map the swimlane</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mark every re-keying</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Browse the connectors</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source and target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Score and rank</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volume · errors · impact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Types of middleware and their features; A1 Identify opportunities for creating connections among various devices, databases, software and applications.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Integration Opportunity Scan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register lists at least six candidates, each naming a source system, a target system, a connector and a score. The top-ranked candidate should be the service-call intake — the one you automate in Lab 3.</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Feasibility Scan and Middleware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Perform feasibility scan and assessment to identify potential middleware to be used; K1 Types of middleware and their features.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Take the top three opportunities from Lab 1 and run a structured feasibility scan against six criteria: connector availability, data readiness, licensing, security and governance, performance/delegation, and maintainability. Decide for each whether Power Platform is the right middleware — and be prepared to justify a 'no'.</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Feasibility Assessment Matrix scoring three candidates against six criteria, with a documented Build / Defer / Reject decision and justification for each.</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Platform admin center, connector catalogue, Microsoft licensing documentation</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Each of the three candidates has six scores, a total, and a decision with justification. At least one candidate should be Deferred or Rejected with a defensible reason — a scan where everything passes is not a scan.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Confirm connectors exist</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Standard or Premium</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Assess data readiness</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Table? stable key?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Check security and DLP</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who owns the data</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Assess performance</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rows and delegation</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Decide and justify</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Build · Defer · Reject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A2 Perform feasibility scan and assessment to identify potential middleware to be used; K1 Types of middleware and their features.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Feasibility Scan and Middleware Selection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Each of the three candidates has six scores, a total, and a decision with justification. At least one candidate should be Deferred or Rejected with a defensible reason — a scan where everything passes is not a scan.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Opportunities for Using Power Platform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K1 Types of middleware and their features; A1 Identify opportunities for creating connections among various devices, databases, software and applications.</a:t>
            </a:r>
          </a:p>
          <a:p>
            <a:pPr>
              <a:spcAft>
                <a:spcPts val="1000"/>
              </a:spcAft>
            </a:pPr>
            <a:r>
              <a:rPr sz="1700" b="0">
                <a:solidFill>
                  <a:srgbClr val="161B26"/>
                </a:solidFill>
                <a:latin typeface="Arial"/>
              </a:rPr>
              <a:t>•  You can now: A2 Perform feasibility scan and assessment to identify potential middleware to be used; K1 Types of middleware and their features.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flows · triggers and actions · conditions · approvals · testing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advClick="1">
    <p:push dir="l"/>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K2, A3,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cloud flow is a trigger plus a sequence of actions; the trigger is the event that starts the flow.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Flow types: automated (event-driven), instant (manual/button), scheduled (recurrence), and desktop (RPA).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Dynamic content passes output from one action into the input of the next — this is how data crosses application boundaries.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K2, A3, A5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Power Automate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Conditions, loops and scopes give a flow its control logic; expressions add computation.</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Testing is a first-class step: Flow checker, Test, and the 28-day run history are how you prove a connection works.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8863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31436" cy="548640"/>
          </a:xfrm>
          <a:prstGeom prst="rect">
            <a:avLst/>
          </a:prstGeom>
          <a:noFill/>
        </p:spPr>
        <p:txBody>
          <a:bodyPr wrap="square" anchor="t">
            <a:spAutoFit/>
          </a:bodyPr>
          <a:lstStyle/>
          <a:p>
            <a:pPr algn="l">
              <a:spcAft>
                <a:spcPts val="400"/>
              </a:spcAft>
            </a:pPr>
            <a:r>
              <a:rPr sz="1900" b="1">
                <a:solidFill>
                  <a:srgbClr val="1F6FEB"/>
                </a:solidFill>
                <a:latin typeface="Arial"/>
              </a:rPr>
              <a:t>Labs 3–4</a:t>
            </a:r>
          </a:p>
        </p:txBody>
      </p:sp>
      <p:sp>
        <p:nvSpPr>
          <p:cNvPr id="10" name="TextBox 9"/>
          <p:cNvSpPr txBox="1"/>
          <p:nvPr/>
        </p:nvSpPr>
        <p:spPr>
          <a:xfrm>
            <a:off x="1005840" y="2697480"/>
            <a:ext cx="4631436" cy="3108960"/>
          </a:xfrm>
          <a:prstGeom prst="rect">
            <a:avLst/>
          </a:prstGeom>
          <a:noFill/>
        </p:spPr>
        <p:txBody>
          <a:bodyPr wrap="square">
            <a:spAutoFit/>
          </a:bodyPr>
          <a:lstStyle/>
          <a:p>
            <a:pPr>
              <a:spcAft>
                <a:spcPts val="900"/>
              </a:spcAft>
            </a:pPr>
            <a:r>
              <a:rPr sz="1400" b="0">
                <a:solidFill>
                  <a:srgbClr val="161B26"/>
                </a:solidFill>
                <a:latin typeface="Arial"/>
              </a:rPr>
              <a:t>•  Trigger and Actions</a:t>
            </a:r>
          </a:p>
          <a:p>
            <a:pPr>
              <a:spcAft>
                <a:spcPts val="900"/>
              </a:spcAft>
            </a:pPr>
            <a:r>
              <a:rPr sz="1400" b="0">
                <a:solidFill>
                  <a:srgbClr val="161B26"/>
                </a:solidFill>
                <a:latin typeface="Arial"/>
              </a:rPr>
              <a:t>•  Log to Excel</a:t>
            </a:r>
          </a:p>
        </p:txBody>
      </p:sp>
      <p:sp>
        <p:nvSpPr>
          <p:cNvPr id="11" name="Rectangle 10"/>
          <p:cNvSpPr/>
          <p:nvPr/>
        </p:nvSpPr>
        <p:spPr>
          <a:xfrm>
            <a:off x="6323076"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23076" y="1783080"/>
            <a:ext cx="508863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1676" y="2011680"/>
            <a:ext cx="4631436" cy="548640"/>
          </a:xfrm>
          <a:prstGeom prst="rect">
            <a:avLst/>
          </a:prstGeom>
          <a:noFill/>
        </p:spPr>
        <p:txBody>
          <a:bodyPr wrap="square" anchor="t">
            <a:spAutoFit/>
          </a:bodyPr>
          <a:lstStyle/>
          <a:p>
            <a:pPr algn="l">
              <a:spcAft>
                <a:spcPts val="400"/>
              </a:spcAft>
            </a:pPr>
            <a:r>
              <a:rPr sz="1900" b="1">
                <a:solidFill>
                  <a:srgbClr val="10B981"/>
                </a:solidFill>
                <a:latin typeface="Arial"/>
              </a:rPr>
              <a:t>Labs 5–6</a:t>
            </a:r>
          </a:p>
        </p:txBody>
      </p:sp>
      <p:sp>
        <p:nvSpPr>
          <p:cNvPr id="14" name="TextBox 13"/>
          <p:cNvSpPr txBox="1"/>
          <p:nvPr/>
        </p:nvSpPr>
        <p:spPr>
          <a:xfrm>
            <a:off x="6551676" y="2697480"/>
            <a:ext cx="4631436" cy="3108960"/>
          </a:xfrm>
          <a:prstGeom prst="rect">
            <a:avLst/>
          </a:prstGeom>
          <a:noFill/>
        </p:spPr>
        <p:txBody>
          <a:bodyPr wrap="square">
            <a:spAutoFit/>
          </a:bodyPr>
          <a:lstStyle/>
          <a:p>
            <a:pPr>
              <a:spcAft>
                <a:spcPts val="900"/>
              </a:spcAft>
            </a:pPr>
            <a:r>
              <a:rPr sz="1400" b="0">
                <a:solidFill>
                  <a:srgbClr val="161B26"/>
                </a:solidFill>
                <a:latin typeface="Arial"/>
              </a:rPr>
              <a:t>•  Conditions and Branching</a:t>
            </a:r>
          </a:p>
          <a:p>
            <a:pPr>
              <a:spcAft>
                <a:spcPts val="900"/>
              </a:spcAft>
            </a:pPr>
            <a:r>
              <a:rPr sz="1400" b="0">
                <a:solidFill>
                  <a:srgbClr val="161B26"/>
                </a:solidFill>
                <a:latin typeface="Arial"/>
              </a:rPr>
              <a:t>•  Leave Application Approval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Trigger and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K2 Proper usage of middleware; A3 Utilise middleware to integrate data and functions across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Build your first cloud flow: an automated flow that fires when a new service-call item arrives and sends a formatted notification. This is the atom of every integration — one trigger, one or more actions, and dynamic content carrying data between them.</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3 - Trigger and Actions (DO NOT DELETE)' — an automated cloud flow with a trigger, a compose step and a notification action, tested with a successful run.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Office 365 Outlook, Compose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run history shows one Succeeded run. Expanding the Compose step shows the sender, subject and timestamp carried from the trigger, and the notification email arrives in your inbox.</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advClick="1">
    <p:push dir="l"/>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an automated flow</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new cloud flow</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Pick the email trigger</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When a new email arrives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Filter what fires it</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subject contains SERVICE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Compose the details</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from · subject · time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Send the notification</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and test the run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K2 Proper usage of middleware; A3 Utilise middleware to integrate data and functions across application programs.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Trigger and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run history shows one Succeeded run. Expanding the Compose step shows the sender, subject and timestamp carried from the trigger, and the notification email arrives in your inbox.</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to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Utilise middleware to integrate data and functions across application programs; A5 Perform tests and checks on the connections between disparate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Extend Lab 3 so the service call is not merely announced but recorded. The flow writes a row into an Excel Online table in OneDrive, turning a notification into a durable integration between a mail system and a data store.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4 - Log to Excel (DO NOT DELETE)' writing one row per service call into a formatted Excel Table, verified by inspecting the workbook.</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Office 365 Outlook, Excel Online (Business), OneDrive for Business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new row appears in the ServiceCalls table for each test email. The deliberate rename produces a clear failure in run history, and restoring the name returns the flow to Succeeded.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advClick="1">
    <p:push dir="l"/>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Format data as a Table</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Insert &gt; Table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Name the table</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ServiceCalls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Copy the Lab 3 flow</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Save As</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Add a row to the table</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map dynamic content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Break it and fix it</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rename, re-run, restore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Utilise middleware to integrate data and functions across application programs; A5 Perform tests and checks on the connections between disparate application programs.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 to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new row appears in the ServiceCalls table for each test email. The deliberate rename produces a clear failure in run history, and restoring the name returns the flow to Succeeded.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Conditions and Branching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K2 Proper usage of middleware; A3 Utilise middleware to integrate data and functions across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Real integrations rarely run in a straight line. Add a Condition so urgent service calls are escalated while routine ones are only logged, then add a scheduled digest flow that summarises the day's calls.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5 - Conditions and Branching (DO NOT DELETE)' with a working If yes / If no branch, plus a scheduled recurrence flow producing a daily digest.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Office 365 Outlook, Excel Online (Business), Recurrence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Run history shows the URGENT test taking the If yes branch and the routine test taking If no. The digest flow sends one email containing an HTML table of the logged calls.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advClick="1">
    <p:push dir="l"/>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Copy the Lab 4 flow</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Save As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Add a Condition</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subject contains URGENT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Escalate on the yes branch</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high-importance email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Log only on the no branch</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routine calls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Add a scheduled digest</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daily at 18:00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K2 Proper usage of middleware; A3 Utilise middleware to integrate data and functions across application programs.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Conditions and Branching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Run history shows the URGENT test taking the If yes branch and the routine test taking If no. The digest flow sends one email containing an HTML table of the logged calls.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Leave Application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Utilise middleware to integrate data and functions across application programs; A5 Perform tests and checks on the connections between disparate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Add the human to the loop. Build an approval flow where a leave request is routed to an approver, the decision branches the flow, and the outcome is written back and notified — the canonical human-in-the-loop integration pattern.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6 - Leave Application Approval (DO NOT DELETE)' with a Start and wait for an approval action, an outcome condition, and write-back to Excel.</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Approvals, Office 365 Outlook, Excel Online (Business), Microsoft Teams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Two runs complete: one Approved and one Rejected. Each produced the correct branch, the correct email, and a correctly-statused row in the LeaveLog table.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advClick="1">
    <p:push dir="l"/>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an instant flow</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manual trigger</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Add the request inputs</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applicant · type · days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Start and wait for approval</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first to respond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Branch on the outcome</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Approve or Reject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Write back and notify</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Excel row plus email</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Utilise middleware to integrate data and functions across application programs; A5 Perform tests and checks on the connections between disparate application programs.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Leave Application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Two runs complete: one Approved and one Rejected. Each produced the correct branch, the correct email, and a correctly-statused row in the LeaveLog table.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K2 Proper usage of middleware; A3 Utilise middleware to integrate data and functions across application programs.</a:t>
            </a:r>
          </a:p>
          <a:p>
            <a:pPr>
              <a:spcAft>
                <a:spcPts val="1000"/>
              </a:spcAft>
            </a:pPr>
            <a:r>
              <a:rPr sz="1700" b="0">
                <a:solidFill>
                  <a:srgbClr val="161B26"/>
                </a:solidFill>
                <a:latin typeface="Arial"/>
              </a:rPr>
              <a:t>•  You can now: A3 Utilise middleware to integrate data and functions across application programs; A5 Perform tests and checks on the connections between disparate application programs.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Power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Canvas apps · data sources · controls and formulas · publishing and sharing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advClick="1">
    <p:push dir="l"/>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K3, K5, A4,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Power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Canvas apps give pixel-level control of the UI; model-driven apps generate the UI from the data model.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Apps run across platforms — browser, iOS, Android, Teams and embedded in SharePoint or Power BI.</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data source is reached through a connector; the same app can bind to Dataverse, Excel, SharePoint or a REST API.</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K3, K5, A4, A6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Power Apps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Power Fx is the Excel-like formula language that binds controls to data and behaviour.</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Publish, version and share are the app lifecycle: every save creates a version you can restore.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Power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8863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31436" cy="548640"/>
          </a:xfrm>
          <a:prstGeom prst="rect">
            <a:avLst/>
          </a:prstGeom>
          <a:noFill/>
        </p:spPr>
        <p:txBody>
          <a:bodyPr wrap="square" anchor="t">
            <a:spAutoFit/>
          </a:bodyPr>
          <a:lstStyle/>
          <a:p>
            <a:pPr algn="l">
              <a:spcAft>
                <a:spcPts val="400"/>
              </a:spcAft>
            </a:pPr>
            <a:r>
              <a:rPr sz="1900" b="1">
                <a:solidFill>
                  <a:srgbClr val="1F6FEB"/>
                </a:solidFill>
                <a:latin typeface="Arial"/>
              </a:rPr>
              <a:t>Labs 7–8</a:t>
            </a:r>
          </a:p>
        </p:txBody>
      </p:sp>
      <p:sp>
        <p:nvSpPr>
          <p:cNvPr id="10" name="TextBox 9"/>
          <p:cNvSpPr txBox="1"/>
          <p:nvPr/>
        </p:nvSpPr>
        <p:spPr>
          <a:xfrm>
            <a:off x="1005840" y="2697480"/>
            <a:ext cx="4631436" cy="3108960"/>
          </a:xfrm>
          <a:prstGeom prst="rect">
            <a:avLst/>
          </a:prstGeom>
          <a:noFill/>
        </p:spPr>
        <p:txBody>
          <a:bodyPr wrap="square">
            <a:spAutoFit/>
          </a:bodyPr>
          <a:lstStyle/>
          <a:p>
            <a:pPr>
              <a:spcAft>
                <a:spcPts val="900"/>
              </a:spcAft>
            </a:pPr>
            <a:r>
              <a:rPr sz="1400" b="0">
                <a:solidFill>
                  <a:srgbClr val="161B26"/>
                </a:solidFill>
                <a:latin typeface="Arial"/>
              </a:rPr>
              <a:t>•  Canvas App from Excel Data</a:t>
            </a:r>
          </a:p>
          <a:p>
            <a:pPr>
              <a:spcAft>
                <a:spcPts val="900"/>
              </a:spcAft>
            </a:pPr>
            <a:r>
              <a:rPr sz="1400" b="0">
                <a:solidFill>
                  <a:srgbClr val="161B26"/>
                </a:solidFill>
                <a:latin typeface="Arial"/>
              </a:rPr>
              <a:t>•  Blank Canvas App with Power Fx</a:t>
            </a:r>
          </a:p>
        </p:txBody>
      </p:sp>
      <p:sp>
        <p:nvSpPr>
          <p:cNvPr id="11" name="Rectangle 10"/>
          <p:cNvSpPr/>
          <p:nvPr/>
        </p:nvSpPr>
        <p:spPr>
          <a:xfrm>
            <a:off x="6323076"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23076" y="1783080"/>
            <a:ext cx="508863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1676" y="2011680"/>
            <a:ext cx="4631436" cy="548640"/>
          </a:xfrm>
          <a:prstGeom prst="rect">
            <a:avLst/>
          </a:prstGeom>
          <a:noFill/>
        </p:spPr>
        <p:txBody>
          <a:bodyPr wrap="square" anchor="t">
            <a:spAutoFit/>
          </a:bodyPr>
          <a:lstStyle/>
          <a:p>
            <a:pPr algn="l">
              <a:spcAft>
                <a:spcPts val="400"/>
              </a:spcAft>
            </a:pPr>
            <a:r>
              <a:rPr sz="1900" b="1">
                <a:solidFill>
                  <a:srgbClr val="10B981"/>
                </a:solidFill>
                <a:latin typeface="Arial"/>
              </a:rPr>
              <a:t>Labs 9–10</a:t>
            </a:r>
          </a:p>
        </p:txBody>
      </p:sp>
      <p:sp>
        <p:nvSpPr>
          <p:cNvPr id="14" name="TextBox 13"/>
          <p:cNvSpPr txBox="1"/>
          <p:nvPr/>
        </p:nvSpPr>
        <p:spPr>
          <a:xfrm>
            <a:off x="6551676" y="2697480"/>
            <a:ext cx="4631436" cy="3108960"/>
          </a:xfrm>
          <a:prstGeom prst="rect">
            <a:avLst/>
          </a:prstGeom>
          <a:noFill/>
        </p:spPr>
        <p:txBody>
          <a:bodyPr wrap="square">
            <a:spAutoFit/>
          </a:bodyPr>
          <a:lstStyle/>
          <a:p>
            <a:pPr>
              <a:spcAft>
                <a:spcPts val="900"/>
              </a:spcAft>
            </a:pPr>
            <a:r>
              <a:rPr sz="1400" b="0">
                <a:solidFill>
                  <a:srgbClr val="161B26"/>
                </a:solidFill>
                <a:latin typeface="Arial"/>
              </a:rPr>
              <a:t>•  Custom Connector and API Integration</a:t>
            </a:r>
          </a:p>
          <a:p>
            <a:pPr>
              <a:spcAft>
                <a:spcPts val="900"/>
              </a:spcAft>
            </a:pPr>
            <a:r>
              <a:rPr sz="1400" b="0">
                <a:solidFill>
                  <a:srgbClr val="161B26"/>
                </a:solidFill>
                <a:latin typeface="Arial"/>
              </a:rPr>
              <a:t>•  Cross-Platform Verification and Sharing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App from Excel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K3 Different types of platforms on which applications run; A4 Support API-level integration.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Create your first canvas app over the Excel table you built in Lab 4. Power Apps generates a three-screen browse/detail/edit app; you then read how each screen is wired so the generated app becomes something you can modify rather than a black box.</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Canvas app 'Lab 7 - Canvas App from Excel (DO NOT DELETE)' — a working three-screen app bound to the ServiceCalls Excel table, saved and published.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Studio, Excel Online (Business), OneDrive for Business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app browses, filters and sorts real service-call data; adding a record through the app writes a new row to the Excel table, and the app appears in the Apps list as published.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advClick="1">
    <p:push dir="l"/>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Open the maker portal</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check the environment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Start with Excel data</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pick the table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Save with the lab name</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three screens generated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Read the Items formula</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how binding works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Sort, search and publish</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then check versions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K3 Different types of platforms on which applications run; A4 Support API-level integration.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Canvas App from Excel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app browses, filters and sorts real service-call data; adding a record through the app writes a new row to the Excel table, and the app appears in the Apps list as published.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Blank Canvas App with Power Fx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K3 Different types of platforms on which applications run; A6 Verify proper functioning of modules and applications across multiple or integrated platforms.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generated app hides the mechanics. Build one from an empty screen so every control, variable and formula is yours: a leave-request form with validation, variables and navigation, which becomes the front end you wire to a flow in Topic 4.</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Canvas app 'Lab 8 - Leave Request App (DO NOT DELETE)' — a two-screen app built from blank with validated inputs, variables and navigation.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Studio, Power Fx</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submit button stays disabled until the required fields are filled; submitting navigates to the confirmation screen showing the entered values; App checker reports no errors.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advClick="1">
    <p:push dir="l"/>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a blank canvas app</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tablet layout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Insert the form controls</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inputs and dropdown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Validate before submit</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disable until complete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Set a global variable</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carry state across screens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Navigate and confirm</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read the values back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K3 Different types of platforms on which applications run; A6 Verify proper functioning of modules and applications across multiple or integrated platforms.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Blank Canvas App with Power Fx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submit button stays disabled until the required fields are filled; submitting navigates to the confirmation screen showing the entered values; App checker reports no errors.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Connector and API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K5 Functions of Application Programming Interfaces (APIs); A4 Support API-level integration.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Connectors are the platform's API layer. Where no prebuilt connector exists you build a custom one. Create a custom connector over a public REST API, define its action and response schema, test it, and consume it from a canvas app.</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Custom connector 'Lab 9 - Public Holiday API (DO NOT DELETE)' plus canvas app 'Lab 9 - API Consumer App (DO NOT DELETE)' displaying live API data.</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custom connectors, REST, JSON, Power Fx</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connector Test tab returns HTTP 200 with a JSON array of holidays. In the app, pressing the button fills the gallery with live public-holiday data from the external API.</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advClick="1">
    <p:push dir="l"/>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a custom connector</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from blank</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Set host and base URL</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date.nager.at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Choose the security</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none for a public API</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Import the schema</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from a sample response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Consume it from an app</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collect and display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K5 Functions of Application Programming Interfaces (APIs); A4 Support API-level integration.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Custom Connector and API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connector Test tab returns HTTP 200 with a JSON array of holidays. In the app, pressing the button fills the gallery with live public-holiday data from the external API.</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Cross-Platform Verification and Sharing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Verify proper functioning of modules and applications across multiple or integrated platforms; K3 Different types of platforms on which applications run.</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An app that only works on the maker's screen is not integrated. Verify your apps run correctly in the browser, on the mobile player and embedded in Teams, then share them with the right permissions and record the results in a test matrix.</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Cross-Platform Verification Matrix for Labs 7-9, plus the apps shared and one app embedded in Microsoft Teams.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mobile, Microsoft Teams, Power Apps sharing</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Every cell of the matrix is filled for all three platforms, with at least three real defects or limitations recorded, and a classmate can run your shared app.</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advClick="1">
    <p:push dir="l"/>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Build a test matrix</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apps × platforms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Test in the browser</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load time and layout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Test on mobile</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note what is awkward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Embed in Teams</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add as a channel tab</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Share and record findings</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User, not Co-owner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A6 Verify proper functioning of modules and applications across multiple or integrated platforms; K3 Different types of platforms on which applications run.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Cross-Platform Verification and Sharing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cell of the matrix is filled for all three platforms, with at least three real defects or limitations recorded, and a classmate can run your shared app.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Power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K3 Different types of platforms on which applications run; A4 Support API-level integration.</a:t>
            </a:r>
          </a:p>
          <a:p>
            <a:pPr>
              <a:spcAft>
                <a:spcPts val="1000"/>
              </a:spcAft>
            </a:pPr>
            <a:r>
              <a:rPr sz="1700" b="0">
                <a:solidFill>
                  <a:srgbClr val="161B26"/>
                </a:solidFill>
                <a:latin typeface="Arial"/>
              </a:rPr>
              <a:t>•  You can now: K3 Different types of platforms on which applications run; A6 Verify proper functioning of modules and applications across multiple or integrated platforms.</a:t>
            </a:r>
          </a:p>
          <a:p>
            <a:pPr>
              <a:spcAft>
                <a:spcPts val="1000"/>
              </a:spcAft>
            </a:pPr>
            <a:r>
              <a:rPr sz="1700" b="0">
                <a:solidFill>
                  <a:srgbClr val="161B26"/>
                </a:solidFill>
                <a:latin typeface="Arial"/>
              </a:rPr>
              <a:t>•  You can now: K5 Functions of Application Programming Interfaces (APIs); A4 Support API-level integration.</a:t>
            </a:r>
          </a:p>
          <a:p>
            <a:pPr>
              <a:spcAft>
                <a:spcPts val="1000"/>
              </a:spcAft>
            </a:pPr>
            <a:r>
              <a:rPr sz="1700" b="0">
                <a:solidFill>
                  <a:srgbClr val="161B26"/>
                </a:solidFill>
                <a:latin typeface="Arial"/>
              </a:rPr>
              <a:t>•  You can now: A6 Verify proper functioning of modules and applications across multiple or integrated platforms; K3 Different types of platforms on which applications run.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Integrate Power Apps and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Calling flows from apps · approvals · returning data · troubleshooting integration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advClick="1">
    <p:push dir="l"/>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K4, A7, A8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Integrate Power Apps and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canvas app calls a flow with the Power Apps (V2) trigger; parameters are typed and passed from controls.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Respond to a Power App or flow returns data back to the app, closing the round trip.</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Approvals combine a flow, an approver and a decision branch — the classic human-in-the-loop integration.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MAPS TO K4, A7, A8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Integrate Power Apps and Power Automate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Integration issues cluster into technical (auth, connector), compatibility (data type, format) and performance (delegation, throughput).</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400" b="0">
                <a:solidFill>
                  <a:srgbClr val="161B26"/>
                </a:solidFill>
                <a:latin typeface="Arial"/>
              </a:rPr>
              <a:t>Delegation is the single most common Power Apps performance defect — know the warning and the mitigations.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Integrate Power Apps and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8863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631436" cy="548640"/>
          </a:xfrm>
          <a:prstGeom prst="rect">
            <a:avLst/>
          </a:prstGeom>
          <a:noFill/>
        </p:spPr>
        <p:txBody>
          <a:bodyPr wrap="square" anchor="t">
            <a:spAutoFit/>
          </a:bodyPr>
          <a:lstStyle/>
          <a:p>
            <a:pPr algn="l">
              <a:spcAft>
                <a:spcPts val="400"/>
              </a:spcAft>
            </a:pPr>
            <a:r>
              <a:rPr sz="1900" b="1">
                <a:solidFill>
                  <a:srgbClr val="1F6FEB"/>
                </a:solidFill>
                <a:latin typeface="Arial"/>
              </a:rPr>
              <a:t>Labs 11–12</a:t>
            </a:r>
          </a:p>
        </p:txBody>
      </p:sp>
      <p:sp>
        <p:nvSpPr>
          <p:cNvPr id="10" name="TextBox 9"/>
          <p:cNvSpPr txBox="1"/>
          <p:nvPr/>
        </p:nvSpPr>
        <p:spPr>
          <a:xfrm>
            <a:off x="1005840" y="2697480"/>
            <a:ext cx="4631436" cy="3108960"/>
          </a:xfrm>
          <a:prstGeom prst="rect">
            <a:avLst/>
          </a:prstGeom>
          <a:noFill/>
        </p:spPr>
        <p:txBody>
          <a:bodyPr wrap="square">
            <a:spAutoFit/>
          </a:bodyPr>
          <a:lstStyle/>
          <a:p>
            <a:pPr>
              <a:spcAft>
                <a:spcPts val="900"/>
              </a:spcAft>
            </a:pPr>
            <a:r>
              <a:rPr sz="1400" b="0">
                <a:solidFill>
                  <a:srgbClr val="161B26"/>
                </a:solidFill>
                <a:latin typeface="Arial"/>
              </a:rPr>
              <a:t>•  Call a Flow from a Canvas App</a:t>
            </a:r>
          </a:p>
          <a:p>
            <a:pPr>
              <a:spcAft>
                <a:spcPts val="900"/>
              </a:spcAft>
            </a:pPr>
            <a:r>
              <a:rPr sz="1400" b="0">
                <a:solidFill>
                  <a:srgbClr val="161B26"/>
                </a:solidFill>
                <a:latin typeface="Arial"/>
              </a:rPr>
              <a:t>•  Return Data from a Flow to the App</a:t>
            </a:r>
          </a:p>
        </p:txBody>
      </p:sp>
      <p:sp>
        <p:nvSpPr>
          <p:cNvPr id="11" name="Rectangle 10"/>
          <p:cNvSpPr/>
          <p:nvPr/>
        </p:nvSpPr>
        <p:spPr>
          <a:xfrm>
            <a:off x="6323076" y="1783080"/>
            <a:ext cx="50886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23076" y="1783080"/>
            <a:ext cx="508863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1676" y="2011680"/>
            <a:ext cx="4631436" cy="548640"/>
          </a:xfrm>
          <a:prstGeom prst="rect">
            <a:avLst/>
          </a:prstGeom>
          <a:noFill/>
        </p:spPr>
        <p:txBody>
          <a:bodyPr wrap="square" anchor="t">
            <a:spAutoFit/>
          </a:bodyPr>
          <a:lstStyle/>
          <a:p>
            <a:pPr algn="l">
              <a:spcAft>
                <a:spcPts val="400"/>
              </a:spcAft>
            </a:pPr>
            <a:r>
              <a:rPr sz="1900" b="1">
                <a:solidFill>
                  <a:srgbClr val="10B981"/>
                </a:solidFill>
                <a:latin typeface="Arial"/>
              </a:rPr>
              <a:t>Labs 13–14</a:t>
            </a:r>
          </a:p>
        </p:txBody>
      </p:sp>
      <p:sp>
        <p:nvSpPr>
          <p:cNvPr id="14" name="TextBox 13"/>
          <p:cNvSpPr txBox="1"/>
          <p:nvPr/>
        </p:nvSpPr>
        <p:spPr>
          <a:xfrm>
            <a:off x="6551676" y="2697480"/>
            <a:ext cx="4631436" cy="3108960"/>
          </a:xfrm>
          <a:prstGeom prst="rect">
            <a:avLst/>
          </a:prstGeom>
          <a:noFill/>
        </p:spPr>
        <p:txBody>
          <a:bodyPr wrap="square">
            <a:spAutoFit/>
          </a:bodyPr>
          <a:lstStyle/>
          <a:p>
            <a:pPr>
              <a:spcAft>
                <a:spcPts val="900"/>
              </a:spcAft>
            </a:pPr>
            <a:r>
              <a:rPr sz="1400" b="0">
                <a:solidFill>
                  <a:srgbClr val="161B26"/>
                </a:solidFill>
                <a:latin typeface="Arial"/>
              </a:rPr>
              <a:t>•  End-to-End Approval App</a:t>
            </a:r>
          </a:p>
          <a:p>
            <a:pPr>
              <a:spcAft>
                <a:spcPts val="900"/>
              </a:spcAft>
            </a:pPr>
            <a:r>
              <a:rPr sz="1400" b="0">
                <a:solidFill>
                  <a:srgbClr val="161B26"/>
                </a:solidFill>
                <a:latin typeface="Arial"/>
              </a:rPr>
              <a:t>•  Troubleshoot and Optimise the Integration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Call a Flow from a Canvas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Support API-level integration; A3 Utilise middleware to integrate data and functions across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Wire the Lab 8 app to a flow. The button no longer just sets a variable — it invokes a Power Automate flow with typed parameters, so the app becomes a front end to an integration rather than a form in isolation.</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11 - Submit Leave Request (DO NOT DELETE)' triggered from the app, and the Lab 8 app updated to call it with typed parameters.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Power Automate, Power Apps (V2) trigger, Office 365 Outlook</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Submitting from the app produces a Succeeded flow run whose trigger inputs exactly match what you typed, plus an approver email and a new LeaveLog row.</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the instant flow</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Power Apps (V2) trigger</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Declare typed inputs</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text and number</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Add email and Excel</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approver plus log row</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Add the flow to the app</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Power Automate pane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Call it from the button</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pass control values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 Support API-level integration; A3 Utilise middleware to integrate data and functions across application programs.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Call a Flow from a Canvas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Submitting from the app produces a Succeeded flow run whose trigger inputs exactly match what you typed, plus an approver email and a new LeaveLog row.</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Return Data from a Flow to the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Support API-level integration; A6 Verify proper functioning of modules and applications across multiple or integrated platforms.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So far data has flowed one way. Close the round trip with 'Respond to a Power App or flow' so the flow returns a result the app displays — the pattern that lets an app use server-side logic, secured credentials or external APIs it cannot reach directly.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12 - Return Leave Balance (DO NOT DELETE)' returning typed values, and the app displaying the returned balance and reference number.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Power Automate, Respond to a Power App or flow, Excel Online (Business)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confirmation screen displays a reference number and remaining balance produced by the flow, and those values match the 'Respond to a Power App or flow' outputs in run history.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the return flow</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Power Apps (V2) trigger</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Compute the balance</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expression on inputs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Generate a reference</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concat and rand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Respond to the app</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typed outputs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Show it in the app</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bind to the result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 Support API-level integration; A6 Verify proper functioning of modules and applications across multiple or integrated platforms.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Return Data from a Flow to the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confirmation screen displays a reference number and remaining balance produced by the flow, and those values match the 'Respond to a Power App or flow' outputs in run history.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End-to-End Approval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Utilise middleware to integrate data and functions across application programs; A5 Perform tests and checks on the connections between disparate application programs.</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Assemble everything into one working solution: the app submits, a flow requests approval, the approver decides in Teams, the outcome is written back, and the app shows live status. This is the integrated system the PP assessment asks you to build.</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Flow 'Lab 13 - Approval Round Trip (DO NOT DELETE)' plus app 'Lab 13 - Leave Portal App (DO NOT DELETE)' showing live request status from the data source.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Apps, Power Automate, Approvals, Microsoft Teams, Excel Online (Business)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request submitted in the app appears as Pending, moves to Approved or Rejected after the approver decides in Teams, and the app's status screen shows the change after Refresh.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Copy the app, add a screen</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status screen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Create the round-trip flow</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five request fields</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Log as Pending</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then wait for approval</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Update on the outcome</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Approved or Rejected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Refresh and verify</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status shown in the app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Utilise middleware to integrate data and functions across application programs; A5 Perform tests and checks on the connections between disparate application programs.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End-to-End Approval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 request submitted in the app appears as Pending, moves to Approved or Rejected after the approver decides in Teams, and the app's status screen shows the change after Refresh.</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and Optimise the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K4 Potential technical, compatibility or performance issues in application integration; A7 Highlight technical, compatibility or performance issues; A8 Implement modifications to mitigate the issues identified.</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Deliberately break your working solution in three ways — technical, compatibility and performance — then diagnose each from the evidence, fix it, and record the finding. This is the A7/A8 discipline the assessment tests, and it is far easier to learn on a system you built.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Integration Issue Log documenting three provoked defects with evidence, root cause and the implemented fix, plus the repaired solution.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Power Automate run history, Power Apps App checker, Monitor, delegation warnings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Issue Log documents three issues, one of each class, each with real evidence, a root cause and a verified fix. The end-to-end approval scenario runs successfully after all repairs.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Break the connection</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technical fault</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Diagnose from run history</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read the real error</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Pass the wrong type</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compatibility fault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Delegation warning</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performance fault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Fix, verify and log</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three issues documented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K4 Potential technical, compatibility or performance issues in application integration; A7 Highlight technical, compatibility or performance issues; A8 Implement modifications to mitigate the issues identified.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 and Optimise the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Issue Log documents three issues, one of each class, each with real evidence, a root cause and a verified fix. The end-to-end approval scenario runs successfully after all repairs.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Nothing happens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.env file is in the labs folder and the key has no quotes or spaces.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Auth or 401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Re-copy the API key from AI Studio; confirm GOOGLE_GENAI_USE_VERTEXAI=0.</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uv sync again, and prefix commands with uv run so the venv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Integrate Power Apps and Power Automate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A4 Support API-level integration; A3 Utilise middleware to integrate data and functions across application programs.</a:t>
            </a:r>
          </a:p>
          <a:p>
            <a:pPr>
              <a:spcAft>
                <a:spcPts val="1000"/>
              </a:spcAft>
            </a:pPr>
            <a:r>
              <a:rPr sz="1700" b="0">
                <a:solidFill>
                  <a:srgbClr val="161B26"/>
                </a:solidFill>
                <a:latin typeface="Arial"/>
              </a:rPr>
              <a:t>•  You can now: A4 Support API-level integration; A6 Verify proper functioning of modules and applications across multiple or integrated platforms.</a:t>
            </a:r>
          </a:p>
          <a:p>
            <a:pPr>
              <a:spcAft>
                <a:spcPts val="1000"/>
              </a:spcAft>
            </a:pPr>
            <a:r>
              <a:rPr sz="1700" b="0">
                <a:solidFill>
                  <a:srgbClr val="161B26"/>
                </a:solidFill>
                <a:latin typeface="Arial"/>
              </a:rPr>
              <a:t>•  You can now: A3 Utilise middleware to integrate data and functions across application programs; A5 Perform tests and checks on the connections between disparate application programs.</a:t>
            </a:r>
          </a:p>
          <a:p>
            <a:pPr>
              <a:spcAft>
                <a:spcPts val="1000"/>
              </a:spcAft>
            </a:pPr>
            <a:r>
              <a:rPr sz="1700" b="0">
                <a:solidFill>
                  <a:srgbClr val="161B26"/>
                </a:solidFill>
                <a:latin typeface="Arial"/>
              </a:rPr>
              <a:t>•  You can now: K4 Potential technical, compatibility or performance issues in application integration; A7 Highlight technical, compatibility or performance issues; A8 Implement modifications to mitigate the issues identified.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advClick="1">
    <p:push dir="l"/>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Identified opportunities</a:t>
            </a:r>
          </a:p>
          <a:p>
            <a:pPr algn="l">
              <a:spcAft>
                <a:spcPts val="300"/>
              </a:spcAft>
            </a:pPr>
            <a:r>
              <a:rPr sz="1200" b="0">
                <a:solidFill>
                  <a:srgbClr val="5B6372"/>
                </a:solidFill>
                <a:latin typeface="Arial"/>
              </a:rPr>
              <a:t>Mapped a manual process, built an Integration Opportunity Register and ran a six-criteria feasibility scan with defensible Build / Defer / Reject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Utilised Power Automate</a:t>
            </a:r>
          </a:p>
          <a:p>
            <a:pPr algn="l">
              <a:spcAft>
                <a:spcPts val="300"/>
              </a:spcAft>
            </a:pPr>
            <a:r>
              <a:rPr sz="1200" b="0">
                <a:solidFill>
                  <a:srgbClr val="5B6372"/>
                </a:solidFill>
                <a:latin typeface="Arial"/>
              </a:rPr>
              <a:t>Built and tested automated, instant and scheduled cloud flows with triggers, actions, dynamic content, conditions, branching and approvals.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Created Power Apps</a:t>
            </a:r>
          </a:p>
          <a:p>
            <a:pPr algn="l">
              <a:spcAft>
                <a:spcPts val="300"/>
              </a:spcAft>
            </a:pPr>
            <a:r>
              <a:rPr sz="1200" b="0">
                <a:solidFill>
                  <a:srgbClr val="5B6372"/>
                </a:solidFill>
                <a:latin typeface="Arial"/>
              </a:rPr>
              <a:t>Built canvas apps from data and from blank, wrote Power Fx, reached an external API through a custom connector, and verified the apps across browser, mobile and Teams.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Improved apps with flows</a:t>
            </a:r>
          </a:p>
          <a:p>
            <a:pPr algn="l">
              <a:spcAft>
                <a:spcPts val="300"/>
              </a:spcAft>
            </a:pPr>
            <a:r>
              <a:rPr sz="1200" b="0">
                <a:solidFill>
                  <a:srgbClr val="5B6372"/>
                </a:solidFill>
                <a:latin typeface="Arial"/>
              </a:rPr>
              <a:t>Called flows from an app, returned data to close the round trip, built an end-to-end approval, then provoked, diagnosed and fixed technical, compatibility and performance defects.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Microsoft Learn</a:t>
            </a:r>
          </a:p>
          <a:p>
            <a:pPr algn="l">
              <a:spcAft>
                <a:spcPts val="300"/>
              </a:spcAft>
            </a:pPr>
            <a:r>
              <a:rPr sz="1200" b="0">
                <a:solidFill>
                  <a:srgbClr val="5B6372"/>
                </a:solidFill>
                <a:latin typeface="Arial"/>
              </a:rPr>
              <a:t>learn.microsoft.com/power-platform — the official reference for every connector and function.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Power Fx reference</a:t>
            </a:r>
          </a:p>
          <a:p>
            <a:pPr algn="l">
              <a:spcAft>
                <a:spcPts val="300"/>
              </a:spcAft>
            </a:pPr>
            <a:r>
              <a:rPr sz="1200" b="0">
                <a:solidFill>
                  <a:srgbClr val="5B6372"/>
                </a:solidFill>
                <a:latin typeface="Arial"/>
              </a:rPr>
              <a:t>learn.microsoft.com/power-platform/power-fx — the formula language in full.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lab from an empty flow until the trigger-action-test rhythm is automatic.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Extend the capstone</a:t>
            </a:r>
          </a:p>
          <a:p>
            <a:pPr algn="l">
              <a:spcAft>
                <a:spcPts val="300"/>
              </a:spcAft>
            </a:pPr>
            <a:r>
              <a:rPr sz="1200" b="0">
                <a:solidFill>
                  <a:srgbClr val="5B6372"/>
                </a:solidFill>
                <a:latin typeface="Arial"/>
              </a:rPr>
              <a:t>Add a second approver, a scheduled reminder, or a Power BI report over your LeaveLog.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Govern it</a:t>
            </a:r>
          </a:p>
          <a:p>
            <a:pPr algn="l">
              <a:spcAft>
                <a:spcPts val="300"/>
              </a:spcAft>
            </a:pPr>
            <a:r>
              <a:rPr sz="1200" b="0">
                <a:solidFill>
                  <a:srgbClr val="5B6372"/>
                </a:solidFill>
                <a:latin typeface="Arial"/>
              </a:rPr>
              <a:t>Learn environments, DLP policies and solutions before you deploy anything to production.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Community</a:t>
            </a:r>
          </a:p>
          <a:p>
            <a:pPr algn="l">
              <a:spcAft>
                <a:spcPts val="300"/>
              </a:spcAft>
            </a:pPr>
            <a:r>
              <a:rPr sz="1200" b="0">
                <a:solidFill>
                  <a:srgbClr val="5B6372"/>
                </a:solidFill>
                <a:latin typeface="Arial"/>
              </a:rPr>
              <a:t>The Power Platform community forums are the fastest route past a connector-specific problem.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Business Process Automation with Power Automate and Copilot Studio Agents</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Data Analytics and Visualisation with Power BI</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Microsoft SharePoint for Collaboration</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Data Visualisation with Tableau</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Generative AI for Business Productivity</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1 hour · open book · five short-answer knowledge questions covering K1–K5.</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1.5 hours · open book · four hands-on tasks covering A1–A8.</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advClick="1">
    <p:push dir="l"/>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850392"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32104"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54096"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35808"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57800"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39512"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Open book · 1h + 1.5h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61504"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43216"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65208" y="3063240"/>
            <a:ext cx="1673352" cy="106070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46920" y="3584448"/>
            <a:ext cx="1709928" cy="658368"/>
          </a:xfrm>
          <a:prstGeom prst="rect">
            <a:avLst/>
          </a:prstGeom>
          <a:noFill/>
        </p:spPr>
        <p:txBody>
          <a:bodyPr wrap="square" anchor="ctr">
            <a:spAutoFit/>
          </a:bodyPr>
          <a:lstStyle/>
          <a:p>
            <a:pPr algn="ctr">
              <a:spcAft>
                <a:spcPts val="0"/>
              </a:spcAft>
            </a:pPr>
            <a:r>
              <a:rPr sz="900" b="0">
                <a:solidFill>
                  <a:srgbClr val="5B6372"/>
                </a:solidFill>
                <a:latin typeface="Arial"/>
              </a:rPr>
              <a:t>Assessment Summary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BUILDING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identify integration opportunities, scan them for feasibility, build and test Power Automate flows, create Power Apps, and join the two together into a working, debugged integration.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Applications Integration with Power Apps and Power Automate  ·  TGS-2022015539</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15" name="Picture 14" descr="ref_login.png"/>
          <p:cNvPicPr>
            <a:picLocks noChangeAspect="1"/>
          </p:cNvPicPr>
          <p:nvPr/>
        </p:nvPicPr>
        <p:blipFill>
          <a:blip r:embed="rId3"/>
          <a:stretch>
            <a:fillRect/>
          </a:stretch>
        </p:blipFill>
        <p:spPr>
          <a:xfrm>
            <a:off x="1983345" y="1723644"/>
            <a:ext cx="8225005" cy="4091940"/>
          </a:xfrm>
          <a:prstGeom prst="rect">
            <a:avLst/>
          </a:prstGeom>
          <a:ln w="12700">
            <a:solidFill>
              <a:srgbClr val="E2E8F0"/>
            </a:solidFill>
          </a:ln>
        </p:spPr>
      </p:pic>
      <p:sp>
        <p:nvSpPr>
          <p:cNvPr id="16" name="TextBox 15"/>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